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63" r:id="rId3"/>
    <p:sldId id="259" r:id="rId4"/>
    <p:sldId id="260" r:id="rId5"/>
    <p:sldId id="258" r:id="rId6"/>
    <p:sldId id="261" r:id="rId7"/>
    <p:sldId id="262" r:id="rId8"/>
  </p:sldIdLst>
  <p:sldSz cx="12192000" cy="6858000"/>
  <p:notesSz cx="6858000" cy="9144000"/>
  <p:defaultTextStyle>
    <a:defPPr>
      <a:defRPr lang="it-I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432FF"/>
    <a:srgbClr val="21212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875"/>
    <p:restoredTop sz="94667"/>
  </p:normalViewPr>
  <p:slideViewPr>
    <p:cSldViewPr snapToGrid="0">
      <p:cViewPr>
        <p:scale>
          <a:sx n="103" d="100"/>
          <a:sy n="103" d="100"/>
        </p:scale>
        <p:origin x="552" y="10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02B2FD7B-5B43-0D43-9590-E2EE93207D3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ottotitolo 2">
            <a:extLst>
              <a:ext uri="{FF2B5EF4-FFF2-40B4-BE49-F238E27FC236}">
                <a16:creationId xmlns:a16="http://schemas.microsoft.com/office/drawing/2014/main" id="{99288B2A-783C-7A71-AF95-49AC2C3939B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it-IT"/>
              <a:t>Fare clic per modificare lo stile del sottotitolo dello schema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A3DA35BF-5B67-AAD0-2328-CEB4B37732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062EE9-4CDB-2744-A6B7-48F67C5AB609}" type="datetimeFigureOut">
              <a:rPr lang="it-IT" smtClean="0"/>
              <a:t>30/09/26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D818AC68-9DCF-2DE0-D13F-DB5E6F7BE9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BF56C04F-D324-2B71-8537-2EA0C496DA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216E11-3AF7-A940-ACB1-9C457E0DC699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44166375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55B2484F-6415-AE1E-9D37-8327181881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9807C7B1-647A-3093-1DDD-7155CEF567E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05511823-FC67-8056-52C0-C5C251B41B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062EE9-4CDB-2744-A6B7-48F67C5AB609}" type="datetimeFigureOut">
              <a:rPr lang="it-IT" smtClean="0"/>
              <a:t>30/09/26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13CED559-B4E7-A9F8-AF6B-CAE97EB10C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2E7021C3-287B-201F-1D2F-902822B989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216E11-3AF7-A940-ACB1-9C457E0DC699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03264695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Intestazione se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FB34DFC1-4718-C207-3A55-587FAAE79F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160D26BF-7BDF-C7BE-A240-C58F5BADEE4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E08065B4-4BEF-A239-2AD9-9D365092F3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062EE9-4CDB-2744-A6B7-48F67C5AB609}" type="datetimeFigureOut">
              <a:rPr lang="it-IT" smtClean="0"/>
              <a:t>30/09/26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4687ED45-10DB-40E6-83E3-BE7E921833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092829C9-2A28-FC3A-DD31-5534F6B4FD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216E11-3AF7-A940-ACB1-9C457E0DC699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8348609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e contenu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3EAB040D-AF9E-A0EC-946C-B463090C0C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C9F4A642-776F-9102-99EF-8CDD2465B92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4C0DC2A7-1665-EAD9-4F2C-5BDEB987965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5A4B95EE-66BB-FADD-98B2-16FF71597F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062EE9-4CDB-2744-A6B7-48F67C5AB609}" type="datetimeFigureOut">
              <a:rPr lang="it-IT" smtClean="0"/>
              <a:t>30/09/26</a:t>
            </a:fld>
            <a:endParaRPr lang="it-IT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AD511A18-407D-DBC3-D014-D78460D409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5C2F485A-0156-2917-0124-23978A81BE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216E11-3AF7-A940-ACB1-9C457E0DC699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85857075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nfro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9588C02A-2EAC-5BB2-CC66-5046AE11E4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4020E4D1-0EE1-B111-5A6C-C3FAD76612C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41DB59A3-C88E-8C55-8640-C662D11D3CF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5" name="Segnaposto testo 4">
            <a:extLst>
              <a:ext uri="{FF2B5EF4-FFF2-40B4-BE49-F238E27FC236}">
                <a16:creationId xmlns:a16="http://schemas.microsoft.com/office/drawing/2014/main" id="{7C9524AF-250B-E3C1-F53F-DB9BFB5A707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6" name="Segnaposto contenuto 5">
            <a:extLst>
              <a:ext uri="{FF2B5EF4-FFF2-40B4-BE49-F238E27FC236}">
                <a16:creationId xmlns:a16="http://schemas.microsoft.com/office/drawing/2014/main" id="{7A16A9BB-4134-8B74-21C1-ADBCB0F5ACF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7" name="Segnaposto data 6">
            <a:extLst>
              <a:ext uri="{FF2B5EF4-FFF2-40B4-BE49-F238E27FC236}">
                <a16:creationId xmlns:a16="http://schemas.microsoft.com/office/drawing/2014/main" id="{192586F9-52D6-B41F-EA86-2ED4C522CE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062EE9-4CDB-2744-A6B7-48F67C5AB609}" type="datetimeFigureOut">
              <a:rPr lang="it-IT" smtClean="0"/>
              <a:t>30/09/26</a:t>
            </a:fld>
            <a:endParaRPr lang="it-IT"/>
          </a:p>
        </p:txBody>
      </p:sp>
      <p:sp>
        <p:nvSpPr>
          <p:cNvPr id="8" name="Segnaposto piè di pagina 7">
            <a:extLst>
              <a:ext uri="{FF2B5EF4-FFF2-40B4-BE49-F238E27FC236}">
                <a16:creationId xmlns:a16="http://schemas.microsoft.com/office/drawing/2014/main" id="{8B1C100E-00B6-5CA0-DF24-C3CC8CAEBF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9" name="Segnaposto numero diapositiva 8">
            <a:extLst>
              <a:ext uri="{FF2B5EF4-FFF2-40B4-BE49-F238E27FC236}">
                <a16:creationId xmlns:a16="http://schemas.microsoft.com/office/drawing/2014/main" id="{8D465B87-FB60-1E6D-5CBC-A0D58DF4ED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216E11-3AF7-A940-ACB1-9C457E0DC699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76384613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9C2CE3CF-B769-DFA1-9BB7-374CDF6F35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data 2">
            <a:extLst>
              <a:ext uri="{FF2B5EF4-FFF2-40B4-BE49-F238E27FC236}">
                <a16:creationId xmlns:a16="http://schemas.microsoft.com/office/drawing/2014/main" id="{2C4CA777-7C45-4128-21D1-F2DE154CA7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062EE9-4CDB-2744-A6B7-48F67C5AB609}" type="datetimeFigureOut">
              <a:rPr lang="it-IT" smtClean="0"/>
              <a:t>30/09/26</a:t>
            </a:fld>
            <a:endParaRPr lang="it-IT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ABFE60B3-D595-23A6-9985-CB066531BF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F92FA384-B7F8-2DAB-CDDF-20F8B66174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216E11-3AF7-A940-ACB1-9C457E0DC699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3066560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uo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data 1">
            <a:extLst>
              <a:ext uri="{FF2B5EF4-FFF2-40B4-BE49-F238E27FC236}">
                <a16:creationId xmlns:a16="http://schemas.microsoft.com/office/drawing/2014/main" id="{180F00BE-316A-75E4-3DF5-EE417371CB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062EE9-4CDB-2744-A6B7-48F67C5AB609}" type="datetimeFigureOut">
              <a:rPr lang="it-IT" smtClean="0"/>
              <a:t>30/09/26</a:t>
            </a:fld>
            <a:endParaRPr lang="it-IT"/>
          </a:p>
        </p:txBody>
      </p:sp>
      <p:sp>
        <p:nvSpPr>
          <p:cNvPr id="3" name="Segnaposto piè di pagina 2">
            <a:extLst>
              <a:ext uri="{FF2B5EF4-FFF2-40B4-BE49-F238E27FC236}">
                <a16:creationId xmlns:a16="http://schemas.microsoft.com/office/drawing/2014/main" id="{4073D823-A863-3F97-4AC7-44C0F122B8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387E31D2-D35C-E1C5-89B6-190A173562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216E11-3AF7-A940-ACB1-9C457E0DC699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78940583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to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63828666-3DDE-F5C5-A573-7114001EBD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0EE41FBC-6C1A-2F96-F987-D32838E316F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F6C0CCE6-230E-CB33-41F8-9C08AA795B3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28A8B66A-11A8-61CE-1898-C84292023F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062EE9-4CDB-2744-A6B7-48F67C5AB609}" type="datetimeFigureOut">
              <a:rPr lang="it-IT" smtClean="0"/>
              <a:t>30/09/26</a:t>
            </a:fld>
            <a:endParaRPr lang="it-IT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29049D72-B376-C3A9-82AC-163DF71791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63E994F3-D9DE-1072-60AA-C0C4F51A83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216E11-3AF7-A940-ACB1-9C457E0DC699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7090432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magi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6ED6887C-0DB3-49A1-0231-6D434894B7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immagine 2">
            <a:extLst>
              <a:ext uri="{FF2B5EF4-FFF2-40B4-BE49-F238E27FC236}">
                <a16:creationId xmlns:a16="http://schemas.microsoft.com/office/drawing/2014/main" id="{3B4F60C4-9655-6582-FB87-29A07B10AFBB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it-IT"/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3858C5E7-4ABB-FFA8-EF97-0615F88F467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E73F211A-8FAB-CD97-ACD2-68E1AFB5E4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062EE9-4CDB-2744-A6B7-48F67C5AB609}" type="datetimeFigureOut">
              <a:rPr lang="it-IT" smtClean="0"/>
              <a:t>30/09/26</a:t>
            </a:fld>
            <a:endParaRPr lang="it-IT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44B19D7D-299E-BD73-70ED-4D5FF91455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4CD1236F-6926-A973-008C-5A50F66F76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216E11-3AF7-A940-ACB1-9C457E0DC699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34207440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C205F544-0620-7EC3-C191-15CD4A853B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verticale 2">
            <a:extLst>
              <a:ext uri="{FF2B5EF4-FFF2-40B4-BE49-F238E27FC236}">
                <a16:creationId xmlns:a16="http://schemas.microsoft.com/office/drawing/2014/main" id="{1587E0AE-73AC-2A52-7199-DC51FDD4477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104E0ADD-3362-F69B-5B7C-4605F995B1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062EE9-4CDB-2744-A6B7-48F67C5AB609}" type="datetimeFigureOut">
              <a:rPr lang="it-IT" smtClean="0"/>
              <a:t>30/09/26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5A34C143-C40C-CEB8-1970-F8CDB966E9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60540588-C205-2A3E-DB19-1F9E5D53C9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216E11-3AF7-A940-ACB1-9C457E0DC699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69760578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1_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verticale 1">
            <a:extLst>
              <a:ext uri="{FF2B5EF4-FFF2-40B4-BE49-F238E27FC236}">
                <a16:creationId xmlns:a16="http://schemas.microsoft.com/office/drawing/2014/main" id="{D1A38C88-6E53-D72C-8916-842C260CE93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verticale 2">
            <a:extLst>
              <a:ext uri="{FF2B5EF4-FFF2-40B4-BE49-F238E27FC236}">
                <a16:creationId xmlns:a16="http://schemas.microsoft.com/office/drawing/2014/main" id="{B37AA33A-FD95-542B-76C1-3B6F23567DD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8A0F720B-9F4C-4A4D-196C-2BB76F6DD1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062EE9-4CDB-2744-A6B7-48F67C5AB609}" type="datetimeFigureOut">
              <a:rPr lang="it-IT" smtClean="0"/>
              <a:t>30/09/26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396F1F2B-C8D1-72BB-F4DA-DD72F2D734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235F9405-7978-C25E-63A1-176A66C177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216E11-3AF7-A940-ACB1-9C457E0DC699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63286786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titolo 1">
            <a:extLst>
              <a:ext uri="{FF2B5EF4-FFF2-40B4-BE49-F238E27FC236}">
                <a16:creationId xmlns:a16="http://schemas.microsoft.com/office/drawing/2014/main" id="{3415BE3D-5F49-366A-D771-B83D19868F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5104B611-F565-AC8A-BEA2-27D1D14F87E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9B2EB2BB-EA38-9AC1-F197-840C5B45427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F062EE9-4CDB-2744-A6B7-48F67C5AB609}" type="datetimeFigureOut">
              <a:rPr lang="it-IT" smtClean="0"/>
              <a:t>30/09/26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2094F9C7-43C5-946E-5FFA-67D8C0BA7CB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819B8D36-AEF8-E49D-6BBD-5FBFBE2B3A3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C216E11-3AF7-A940-ACB1-9C457E0DC699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4134799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t-I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>
            <a:lumMod val="9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BEBF27D1-6865-B802-78B7-713BDFA9BAD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it-IT" dirty="0" err="1">
                <a:solidFill>
                  <a:srgbClr val="0070C0"/>
                </a:solidFill>
              </a:rPr>
              <a:t>TriaC</a:t>
            </a:r>
            <a:endParaRPr lang="it-IT" dirty="0">
              <a:solidFill>
                <a:srgbClr val="0070C0"/>
              </a:solidFill>
            </a:endParaRPr>
          </a:p>
        </p:txBody>
      </p:sp>
      <p:sp>
        <p:nvSpPr>
          <p:cNvPr id="3" name="Sottotitolo 2">
            <a:extLst>
              <a:ext uri="{FF2B5EF4-FFF2-40B4-BE49-F238E27FC236}">
                <a16:creationId xmlns:a16="http://schemas.microsoft.com/office/drawing/2014/main" id="{3D0849B5-5F18-8117-3A3D-272943A3F42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it-IT" sz="2000" dirty="0">
                <a:solidFill>
                  <a:srgbClr val="0070C0"/>
                </a:solidFill>
              </a:rPr>
              <a:t>Progetto per il corso di Ingegneria dei Linguaggi di Programmazione</a:t>
            </a:r>
            <a:br>
              <a:rPr lang="it-IT" sz="2000" dirty="0">
                <a:solidFill>
                  <a:srgbClr val="0070C0"/>
                </a:solidFill>
              </a:rPr>
            </a:br>
            <a:r>
              <a:rPr lang="it-IT" sz="2000" dirty="0">
                <a:solidFill>
                  <a:srgbClr val="0070C0"/>
                </a:solidFill>
              </a:rPr>
              <a:t>Andrea Filipuzzi</a:t>
            </a:r>
            <a:br>
              <a:rPr lang="it-IT" sz="2000" dirty="0">
                <a:solidFill>
                  <a:srgbClr val="0070C0"/>
                </a:solidFill>
              </a:rPr>
            </a:br>
            <a:r>
              <a:rPr lang="it-IT" sz="2000" dirty="0">
                <a:solidFill>
                  <a:srgbClr val="0070C0"/>
                </a:solidFill>
              </a:rPr>
              <a:t>Anno Accademico 2026/2027</a:t>
            </a:r>
          </a:p>
        </p:txBody>
      </p:sp>
    </p:spTree>
    <p:extLst>
      <p:ext uri="{BB962C8B-B14F-4D97-AF65-F5344CB8AC3E}">
        <p14:creationId xmlns:p14="http://schemas.microsoft.com/office/powerpoint/2010/main" val="246101877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>
            <a:lumMod val="9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74D33AAD-9541-F4EA-9193-C938834FFC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4430" y="71977"/>
            <a:ext cx="12187571" cy="1325563"/>
          </a:xfrm>
        </p:spPr>
        <p:txBody>
          <a:bodyPr>
            <a:normAutofit/>
          </a:bodyPr>
          <a:lstStyle/>
          <a:p>
            <a:pPr algn="ctr"/>
            <a:r>
              <a:rPr lang="it-IT" sz="3600" b="1" dirty="0" err="1">
                <a:solidFill>
                  <a:srgbClr val="0070C0"/>
                </a:solidFill>
              </a:rPr>
              <a:t>TriaC</a:t>
            </a:r>
            <a:r>
              <a:rPr lang="it-IT" sz="3600" b="1" dirty="0">
                <a:solidFill>
                  <a:srgbClr val="0070C0"/>
                </a:solidFill>
              </a:rPr>
              <a:t>: Compilatore End-to-End da Sintassi Python-like a LLVM IR</a:t>
            </a:r>
            <a:endParaRPr lang="it-IT" sz="3600" dirty="0">
              <a:solidFill>
                <a:srgbClr val="0070C0"/>
              </a:solidFill>
            </a:endParaRP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FCD3537D-FE61-99E2-3A97-16C801310C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88760" y="1716505"/>
            <a:ext cx="5404017" cy="419604"/>
          </a:xfrm>
        </p:spPr>
        <p:txBody>
          <a:bodyPr>
            <a:noAutofit/>
          </a:bodyPr>
          <a:lstStyle/>
          <a:p>
            <a:r>
              <a:rPr lang="it-IT" sz="3200" dirty="0">
                <a:solidFill>
                  <a:srgbClr val="0070C0"/>
                </a:solidFill>
              </a:rPr>
              <a:t>Caratteristiche del Linguaggio: </a:t>
            </a:r>
            <a:endParaRPr lang="en-US" sz="3200" dirty="0">
              <a:solidFill>
                <a:srgbClr val="0070C0"/>
              </a:solidFill>
            </a:endParaRPr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20B45C6D-DE41-6581-4374-D90480FD853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288760" y="2136108"/>
            <a:ext cx="5404017" cy="2451936"/>
          </a:xfrm>
        </p:spPr>
        <p:txBody>
          <a:bodyPr/>
          <a:lstStyle/>
          <a:p>
            <a:pPr lvl="0"/>
            <a:r>
              <a:rPr lang="it-IT" dirty="0">
                <a:solidFill>
                  <a:schemeClr val="bg2">
                    <a:lumMod val="25000"/>
                  </a:schemeClr>
                </a:solidFill>
              </a:rPr>
              <a:t>Tipizzazione statica forte</a:t>
            </a:r>
            <a:endParaRPr lang="en-US" dirty="0">
              <a:solidFill>
                <a:schemeClr val="bg2">
                  <a:lumMod val="25000"/>
                </a:schemeClr>
              </a:solidFill>
            </a:endParaRPr>
          </a:p>
          <a:p>
            <a:pPr lvl="0"/>
            <a:r>
              <a:rPr lang="it-IT" dirty="0">
                <a:solidFill>
                  <a:schemeClr val="bg2">
                    <a:lumMod val="25000"/>
                  </a:schemeClr>
                </a:solidFill>
              </a:rPr>
              <a:t>sintassi </a:t>
            </a:r>
            <a:r>
              <a:rPr lang="it-IT" i="1" dirty="0">
                <a:solidFill>
                  <a:schemeClr val="bg2">
                    <a:lumMod val="25000"/>
                  </a:schemeClr>
                </a:solidFill>
              </a:rPr>
              <a:t>layout-sensitive</a:t>
            </a:r>
            <a:r>
              <a:rPr lang="it-IT" dirty="0">
                <a:solidFill>
                  <a:schemeClr val="bg2">
                    <a:lumMod val="25000"/>
                  </a:schemeClr>
                </a:solidFill>
              </a:rPr>
              <a:t> (indentazione significativa)</a:t>
            </a:r>
            <a:endParaRPr lang="en-US" dirty="0">
              <a:solidFill>
                <a:schemeClr val="bg2">
                  <a:lumMod val="25000"/>
                </a:schemeClr>
              </a:solidFill>
            </a:endParaRPr>
          </a:p>
          <a:p>
            <a:pPr lvl="0"/>
            <a:r>
              <a:rPr lang="it-IT" dirty="0">
                <a:solidFill>
                  <a:schemeClr val="bg2">
                    <a:lumMod val="25000"/>
                  </a:schemeClr>
                </a:solidFill>
              </a:rPr>
              <a:t>costrutti procedurali </a:t>
            </a:r>
            <a:endParaRPr lang="en-US" dirty="0">
              <a:solidFill>
                <a:schemeClr val="bg2">
                  <a:lumMod val="25000"/>
                </a:schemeClr>
              </a:solidFill>
            </a:endParaRPr>
          </a:p>
          <a:p>
            <a:pPr lvl="0"/>
            <a:r>
              <a:rPr lang="it-IT" dirty="0">
                <a:solidFill>
                  <a:schemeClr val="bg2">
                    <a:lumMod val="25000"/>
                  </a:schemeClr>
                </a:solidFill>
              </a:rPr>
              <a:t>I/O nativo.</a:t>
            </a:r>
            <a:endParaRPr lang="en-US" dirty="0">
              <a:solidFill>
                <a:schemeClr val="bg2">
                  <a:lumMod val="25000"/>
                </a:schemeClr>
              </a:solidFill>
            </a:endParaRPr>
          </a:p>
          <a:p>
            <a:endParaRPr lang="it-IT" dirty="0">
              <a:solidFill>
                <a:schemeClr val="bg2">
                  <a:lumMod val="25000"/>
                </a:schemeClr>
              </a:solidFill>
            </a:endParaRPr>
          </a:p>
        </p:txBody>
      </p:sp>
      <p:sp>
        <p:nvSpPr>
          <p:cNvPr id="5" name="Segnaposto testo 4">
            <a:extLst>
              <a:ext uri="{FF2B5EF4-FFF2-40B4-BE49-F238E27FC236}">
                <a16:creationId xmlns:a16="http://schemas.microsoft.com/office/drawing/2014/main" id="{8AA491D8-29AA-76BB-935B-87E0E7FB2BE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716503"/>
            <a:ext cx="5183188" cy="419605"/>
          </a:xfrm>
        </p:spPr>
        <p:txBody>
          <a:bodyPr>
            <a:noAutofit/>
          </a:bodyPr>
          <a:lstStyle/>
          <a:p>
            <a:r>
              <a:rPr lang="it-IT" sz="3200" dirty="0">
                <a:solidFill>
                  <a:srgbClr val="0070C0"/>
                </a:solidFill>
              </a:rPr>
              <a:t>Obiettivo Progettuale: </a:t>
            </a:r>
            <a:endParaRPr lang="en-US" sz="3200" dirty="0">
              <a:solidFill>
                <a:srgbClr val="0070C0"/>
              </a:solidFill>
            </a:endParaRPr>
          </a:p>
        </p:txBody>
      </p:sp>
      <p:sp>
        <p:nvSpPr>
          <p:cNvPr id="6" name="Segnaposto contenuto 5">
            <a:extLst>
              <a:ext uri="{FF2B5EF4-FFF2-40B4-BE49-F238E27FC236}">
                <a16:creationId xmlns:a16="http://schemas.microsoft.com/office/drawing/2014/main" id="{174B32DA-E3F6-F5C1-817E-F388071DC20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136109"/>
            <a:ext cx="5183188" cy="2115051"/>
          </a:xfrm>
        </p:spPr>
        <p:txBody>
          <a:bodyPr/>
          <a:lstStyle/>
          <a:p>
            <a:pPr marL="0" indent="0">
              <a:buNone/>
            </a:pPr>
            <a:r>
              <a:rPr lang="it-IT" dirty="0">
                <a:solidFill>
                  <a:schemeClr val="bg2">
                    <a:lumMod val="25000"/>
                  </a:schemeClr>
                </a:solidFill>
              </a:rPr>
              <a:t>Separazione netta tra front-end dichiarativo, middle-end a due passate e back-end orientato alla modularità e all'ottimizzazione tramite mem2reg.</a:t>
            </a:r>
            <a:endParaRPr lang="en-US" dirty="0">
              <a:solidFill>
                <a:schemeClr val="bg2">
                  <a:lumMod val="25000"/>
                </a:schemeClr>
              </a:solidFill>
            </a:endParaRPr>
          </a:p>
          <a:p>
            <a:endParaRPr lang="it-IT" dirty="0">
              <a:solidFill>
                <a:schemeClr val="bg2">
                  <a:lumMod val="25000"/>
                </a:schemeClr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Segnaposto contenuto 2">
                <a:extLst>
                  <a:ext uri="{FF2B5EF4-FFF2-40B4-BE49-F238E27FC236}">
                    <a16:creationId xmlns:a16="http://schemas.microsoft.com/office/drawing/2014/main" id="{B07452B6-1AFE-046A-4D96-C8A86C246B3E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-4430" y="5461511"/>
                <a:ext cx="12192001" cy="504631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borderBox>
                        <m:borderBoxPr>
                          <m:ctrlPr>
                            <a:rPr lang="it-IT" i="0"/>
                          </m:ctrlPr>
                        </m:borderBoxPr>
                        <m:e>
                          <m:r>
                            <m:rPr>
                              <m:nor/>
                            </m:rPr>
                            <a:rPr lang="it-IT" i="0"/>
                            <m:t>Sorgente</m:t>
                          </m:r>
                        </m:e>
                      </m:borderBox>
                      <m:r>
                        <a:rPr lang="it-IT"/>
                        <m:t>→</m:t>
                      </m:r>
                      <m:borderBox>
                        <m:borderBoxPr>
                          <m:ctrlPr>
                            <a:rPr lang="it-IT"/>
                          </m:ctrlPr>
                        </m:borderBoxPr>
                        <m:e>
                          <m:r>
                            <m:rPr>
                              <m:nor/>
                            </m:rPr>
                            <a:rPr lang="it-IT"/>
                            <m:t>CST</m:t>
                          </m:r>
                        </m:e>
                      </m:borderBox>
                      <m:r>
                        <a:rPr lang="it-IT"/>
                        <m:t>→</m:t>
                      </m:r>
                      <m:borderBox>
                        <m:borderBoxPr>
                          <m:ctrlPr>
                            <a:rPr lang="it-IT"/>
                          </m:ctrlPr>
                        </m:borderBoxPr>
                        <m:e>
                          <m:r>
                            <m:rPr>
                              <m:nor/>
                            </m:rPr>
                            <a:rPr lang="it-IT"/>
                            <m:t>AST</m:t>
                          </m:r>
                        </m:e>
                      </m:borderBox>
                      <m:r>
                        <a:rPr lang="it-IT"/>
                        <m:t>→</m:t>
                      </m:r>
                      <m:borderBox>
                        <m:borderBoxPr>
                          <m:ctrlPr>
                            <a:rPr lang="it-IT"/>
                          </m:ctrlPr>
                        </m:borderBoxPr>
                        <m:e>
                          <m:r>
                            <m:rPr>
                              <m:nor/>
                            </m:rPr>
                            <a:rPr lang="it-IT"/>
                            <m:t>AST Validato</m:t>
                          </m:r>
                        </m:e>
                      </m:borderBox>
                      <m:r>
                        <a:rPr lang="it-IT"/>
                        <m:t>→</m:t>
                      </m:r>
                      <m:borderBox>
                        <m:borderBoxPr>
                          <m:ctrlPr>
                            <a:rPr lang="it-IT"/>
                          </m:ctrlPr>
                        </m:borderBoxPr>
                        <m:e>
                          <m:r>
                            <m:rPr>
                              <m:nor/>
                            </m:rPr>
                            <a:rPr lang="it-IT"/>
                            <m:t>LLVM IR</m:t>
                          </m:r>
                        </m:e>
                      </m:borderBox>
                      <m:r>
                        <a:rPr lang="it-IT"/>
                        <m:t>→</m:t>
                      </m:r>
                      <m:borderBox>
                        <m:borderBoxPr>
                          <m:ctrlPr>
                            <a:rPr lang="it-IT"/>
                          </m:ctrlPr>
                        </m:borderBoxPr>
                        <m:e>
                          <m:r>
                            <m:rPr>
                              <m:nor/>
                            </m:rPr>
                            <a:rPr lang="it-IT"/>
                            <m:t>Binario</m:t>
                          </m:r>
                        </m:e>
                      </m:borderBox>
                    </m:oMath>
                  </m:oMathPara>
                </a14:m>
                <a:endParaRPr lang="it-IT" dirty="0"/>
              </a:p>
            </p:txBody>
          </p:sp>
        </mc:Choice>
        <mc:Fallback>
          <p:sp>
            <p:nvSpPr>
              <p:cNvPr id="7" name="Segnaposto contenuto 2">
                <a:extLst>
                  <a:ext uri="{FF2B5EF4-FFF2-40B4-BE49-F238E27FC236}">
                    <a16:creationId xmlns:a16="http://schemas.microsoft.com/office/drawing/2014/main" id="{B07452B6-1AFE-046A-4D96-C8A86C246B3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4430" y="5461511"/>
                <a:ext cx="12192001" cy="504631"/>
              </a:xfrm>
              <a:prstGeom prst="rect">
                <a:avLst/>
              </a:prstGeom>
              <a:blipFill>
                <a:blip r:embed="rId2"/>
                <a:stretch>
                  <a:fillRect t="-12500" b="-30000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09452172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>
            <a:lumMod val="9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B6BAFBB-5DFA-1D30-673D-414D532A7B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83E30EEB-4D4C-A5D3-DF01-2A1B570DED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it-IT" sz="3700" dirty="0">
                <a:solidFill>
                  <a:srgbClr val="0070C0"/>
                </a:solidFill>
              </a:rPr>
              <a:t>Front-End, Grammatica LALR(1) e Layout-Sensitivity</a:t>
            </a:r>
            <a:endParaRPr lang="it-IT" sz="3700" b="1" dirty="0">
              <a:solidFill>
                <a:srgbClr val="0070C0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Segnaposto contenuto 3">
                <a:extLst>
                  <a:ext uri="{FF2B5EF4-FFF2-40B4-BE49-F238E27FC236}">
                    <a16:creationId xmlns:a16="http://schemas.microsoft.com/office/drawing/2014/main" id="{39C9219E-F773-9F73-8D44-4F9EE440FBB7}"/>
                  </a:ext>
                </a:extLst>
              </p:cNvPr>
              <p:cNvSpPr>
                <a:spLocks noGrp="1"/>
              </p:cNvSpPr>
              <p:nvPr>
                <p:ph sz="half" idx="1"/>
              </p:nvPr>
            </p:nvSpPr>
            <p:spPr>
              <a:xfrm>
                <a:off x="352926" y="1825625"/>
                <a:ext cx="5666874" cy="1831975"/>
              </a:xfrm>
            </p:spPr>
            <p:txBody>
              <a:bodyPr anchor="ctr">
                <a:noAutofit/>
              </a:bodyPr>
              <a:lstStyle/>
              <a:p>
                <a:pPr lvl="0"/>
                <a:r>
                  <a:rPr lang="it-IT" b="1" dirty="0">
                    <a:solidFill>
                      <a:srgbClr val="0070C0"/>
                    </a:solidFill>
                  </a:rPr>
                  <a:t>Parsing LALR(1) con Lark:</a:t>
                </a:r>
                <a:r>
                  <a:rPr lang="it-IT" dirty="0">
                    <a:solidFill>
                      <a:srgbClr val="0070C0"/>
                    </a:solidFill>
                  </a:rPr>
                  <a:t> </a:t>
                </a:r>
                <a:r>
                  <a:rPr lang="it-IT" dirty="0">
                    <a:solidFill>
                      <a:schemeClr val="bg2">
                        <a:lumMod val="25000"/>
                      </a:schemeClr>
                    </a:solidFill>
                  </a:rPr>
                  <a:t>Precedenze e associatività modellate gerarchicamente (</a:t>
                </a:r>
                <a:r>
                  <a:rPr lang="it-IT" dirty="0" err="1">
                    <a:solidFill>
                      <a:schemeClr val="bg2">
                        <a:lumMod val="25000"/>
                      </a:schemeClr>
                    </a:solidFill>
                  </a:rPr>
                  <a:t>expr</a:t>
                </a:r>
                <a:r>
                  <a:rPr lang="it-IT" dirty="0">
                    <a:solidFill>
                      <a:schemeClr val="bg2">
                        <a:lumMod val="25000"/>
                      </a:schemeClr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it-IT">
                        <a:solidFill>
                          <a:schemeClr val="bg2">
                            <a:lumMod val="25000"/>
                          </a:schemeClr>
                        </a:solidFill>
                        <a:latin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lang="it-IT" dirty="0" err="1">
                    <a:solidFill>
                      <a:schemeClr val="bg2">
                        <a:lumMod val="25000"/>
                      </a:schemeClr>
                    </a:solidFill>
                  </a:rPr>
                  <a:t>logical_or</a:t>
                </a:r>
                <a:r>
                  <a:rPr lang="it-IT" dirty="0">
                    <a:solidFill>
                      <a:schemeClr val="bg2">
                        <a:lumMod val="25000"/>
                      </a:schemeClr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it-IT">
                        <a:solidFill>
                          <a:schemeClr val="bg2">
                            <a:lumMod val="25000"/>
                          </a:schemeClr>
                        </a:solidFill>
                        <a:latin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lang="it-IT" dirty="0">
                    <a:solidFill>
                      <a:schemeClr val="bg2">
                        <a:lumMod val="25000"/>
                      </a:schemeClr>
                    </a:solidFill>
                  </a:rPr>
                  <a:t>... </a:t>
                </a:r>
                <a14:m>
                  <m:oMath xmlns:m="http://schemas.openxmlformats.org/officeDocument/2006/math">
                    <m:r>
                      <a:rPr lang="it-IT">
                        <a:solidFill>
                          <a:schemeClr val="bg2">
                            <a:lumMod val="25000"/>
                          </a:schemeClr>
                        </a:solidFill>
                        <a:latin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lang="it-IT" dirty="0" err="1">
                    <a:solidFill>
                      <a:schemeClr val="bg2">
                        <a:lumMod val="25000"/>
                      </a:schemeClr>
                    </a:solidFill>
                  </a:rPr>
                  <a:t>factor</a:t>
                </a:r>
                <a:r>
                  <a:rPr lang="it-IT" dirty="0">
                    <a:solidFill>
                      <a:schemeClr val="bg2">
                        <a:lumMod val="25000"/>
                      </a:schemeClr>
                    </a:solidFill>
                  </a:rPr>
                  <a:t>).</a:t>
                </a:r>
              </a:p>
            </p:txBody>
          </p:sp>
        </mc:Choice>
        <mc:Fallback>
          <p:sp>
            <p:nvSpPr>
              <p:cNvPr id="4" name="Segnaposto contenuto 3">
                <a:extLst>
                  <a:ext uri="{FF2B5EF4-FFF2-40B4-BE49-F238E27FC236}">
                    <a16:creationId xmlns:a16="http://schemas.microsoft.com/office/drawing/2014/main" id="{39C9219E-F773-9F73-8D44-4F9EE440FBB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"/>
              </p:nvPr>
            </p:nvSpPr>
            <p:spPr>
              <a:xfrm>
                <a:off x="352926" y="1825625"/>
                <a:ext cx="5666874" cy="1831975"/>
              </a:xfrm>
              <a:blipFill>
                <a:blip r:embed="rId2"/>
                <a:stretch>
                  <a:fillRect l="-1786" b="-4138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Segnaposto contenuto 5">
            <a:extLst>
              <a:ext uri="{FF2B5EF4-FFF2-40B4-BE49-F238E27FC236}">
                <a16:creationId xmlns:a16="http://schemas.microsoft.com/office/drawing/2014/main" id="{A5695F53-9D34-DE5A-9B3C-F622C1E1AAA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199" y="1825625"/>
            <a:ext cx="5666873" cy="2152817"/>
          </a:xfrm>
        </p:spPr>
        <p:txBody>
          <a:bodyPr>
            <a:normAutofit/>
          </a:bodyPr>
          <a:lstStyle/>
          <a:p>
            <a:r>
              <a:rPr lang="it-IT" b="1" dirty="0">
                <a:solidFill>
                  <a:srgbClr val="0070C0"/>
                </a:solidFill>
              </a:rPr>
              <a:t>Post-Lexer (</a:t>
            </a:r>
            <a:r>
              <a:rPr lang="it-IT" b="1" dirty="0" err="1">
                <a:solidFill>
                  <a:srgbClr val="0070C0"/>
                </a:solidFill>
              </a:rPr>
              <a:t>Indenter</a:t>
            </a:r>
            <a:r>
              <a:rPr lang="it-IT" b="1" dirty="0">
                <a:solidFill>
                  <a:srgbClr val="0070C0"/>
                </a:solidFill>
              </a:rPr>
              <a:t>):</a:t>
            </a:r>
            <a:r>
              <a:rPr lang="it-IT" dirty="0">
                <a:solidFill>
                  <a:srgbClr val="0070C0"/>
                </a:solidFill>
              </a:rPr>
              <a:t> </a:t>
            </a:r>
            <a:r>
              <a:rPr lang="it-IT" dirty="0">
                <a:solidFill>
                  <a:schemeClr val="bg2">
                    <a:lumMod val="25000"/>
                  </a:schemeClr>
                </a:solidFill>
              </a:rPr>
              <a:t>Stack interno per il tracciamento dei livelli di colonna; emissione dinamica dei token virtuali _INDENT e _DEDENT.</a:t>
            </a:r>
          </a:p>
          <a:p>
            <a:pPr marL="0" indent="0">
              <a:buNone/>
            </a:pPr>
            <a:endParaRPr lang="it-IT" dirty="0">
              <a:solidFill>
                <a:schemeClr val="bg2">
                  <a:lumMod val="25000"/>
                </a:schemeClr>
              </a:solidFill>
            </a:endParaRPr>
          </a:p>
        </p:txBody>
      </p:sp>
      <p:sp>
        <p:nvSpPr>
          <p:cNvPr id="7" name="Segnaposto contenuto 5">
            <a:extLst>
              <a:ext uri="{FF2B5EF4-FFF2-40B4-BE49-F238E27FC236}">
                <a16:creationId xmlns:a16="http://schemas.microsoft.com/office/drawing/2014/main" id="{460536AA-753E-DD62-0B1A-57A07F2D6808}"/>
              </a:ext>
            </a:extLst>
          </p:cNvPr>
          <p:cNvSpPr txBox="1">
            <a:spLocks/>
          </p:cNvSpPr>
          <p:nvPr/>
        </p:nvSpPr>
        <p:spPr>
          <a:xfrm>
            <a:off x="352926" y="3978442"/>
            <a:ext cx="5666874" cy="287955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it-IT" b="1" dirty="0">
                <a:solidFill>
                  <a:srgbClr val="0070C0"/>
                </a:solidFill>
              </a:rPr>
              <a:t>Risoluzione del </a:t>
            </a:r>
            <a:r>
              <a:rPr lang="it-IT" b="1" dirty="0" err="1">
                <a:solidFill>
                  <a:srgbClr val="0070C0"/>
                </a:solidFill>
              </a:rPr>
              <a:t>Dangling</a:t>
            </a:r>
            <a:r>
              <a:rPr lang="it-IT" b="1" dirty="0">
                <a:solidFill>
                  <a:srgbClr val="0070C0"/>
                </a:solidFill>
              </a:rPr>
              <a:t>-Else:</a:t>
            </a:r>
            <a:r>
              <a:rPr lang="it-IT" dirty="0">
                <a:solidFill>
                  <a:srgbClr val="0070C0"/>
                </a:solidFill>
              </a:rPr>
              <a:t> </a:t>
            </a:r>
            <a:r>
              <a:rPr lang="it-IT" dirty="0">
                <a:solidFill>
                  <a:schemeClr val="bg2">
                    <a:lumMod val="25000"/>
                  </a:schemeClr>
                </a:solidFill>
              </a:rPr>
              <a:t>Nessun conflitto Shift/Reduce; l'allineamento dell'else guida l'emissione del _DEDENT, forzando la riduzione deterministica del blocco associato.</a:t>
            </a:r>
          </a:p>
          <a:p>
            <a:endParaRPr lang="it-IT" dirty="0">
              <a:solidFill>
                <a:schemeClr val="bg2">
                  <a:lumMod val="25000"/>
                </a:schemeClr>
              </a:solidFill>
            </a:endParaRPr>
          </a:p>
        </p:txBody>
      </p:sp>
      <p:sp>
        <p:nvSpPr>
          <p:cNvPr id="9" name="Segnaposto contenuto 5">
            <a:extLst>
              <a:ext uri="{FF2B5EF4-FFF2-40B4-BE49-F238E27FC236}">
                <a16:creationId xmlns:a16="http://schemas.microsoft.com/office/drawing/2014/main" id="{C4CFCF91-6EB3-6D4A-1F7A-3F2C1795E5A3}"/>
              </a:ext>
            </a:extLst>
          </p:cNvPr>
          <p:cNvSpPr txBox="1">
            <a:spLocks/>
          </p:cNvSpPr>
          <p:nvPr/>
        </p:nvSpPr>
        <p:spPr>
          <a:xfrm>
            <a:off x="6172200" y="3978442"/>
            <a:ext cx="5666872" cy="215281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it-IT" b="1" dirty="0">
                <a:solidFill>
                  <a:srgbClr val="0070C0"/>
                </a:solidFill>
              </a:rPr>
              <a:t>Diagnostica d'Errore:</a:t>
            </a:r>
            <a:r>
              <a:rPr lang="it-IT" dirty="0">
                <a:solidFill>
                  <a:srgbClr val="0070C0"/>
                </a:solidFill>
              </a:rPr>
              <a:t> </a:t>
            </a:r>
            <a:r>
              <a:rPr lang="it-IT" dirty="0">
                <a:solidFill>
                  <a:schemeClr val="bg2">
                    <a:lumMod val="25000"/>
                  </a:schemeClr>
                </a:solidFill>
              </a:rPr>
              <a:t>Riconoscimento immediato tra </a:t>
            </a:r>
            <a:r>
              <a:rPr lang="it-IT" dirty="0" err="1">
                <a:solidFill>
                  <a:schemeClr val="bg2">
                    <a:lumMod val="25000"/>
                  </a:schemeClr>
                </a:solidFill>
              </a:rPr>
              <a:t>UnexpectedCharacters</a:t>
            </a:r>
            <a:r>
              <a:rPr lang="it-IT" dirty="0">
                <a:solidFill>
                  <a:schemeClr val="bg2">
                    <a:lumMod val="25000"/>
                  </a:schemeClr>
                </a:solidFill>
              </a:rPr>
              <a:t> (lessicale) e </a:t>
            </a:r>
            <a:r>
              <a:rPr lang="it-IT" dirty="0" err="1">
                <a:solidFill>
                  <a:schemeClr val="bg2">
                    <a:lumMod val="25000"/>
                  </a:schemeClr>
                </a:solidFill>
              </a:rPr>
              <a:t>UnexpectedToken</a:t>
            </a:r>
            <a:r>
              <a:rPr lang="it-IT" dirty="0">
                <a:solidFill>
                  <a:schemeClr val="bg2">
                    <a:lumMod val="25000"/>
                  </a:schemeClr>
                </a:solidFill>
              </a:rPr>
              <a:t> (sintattico) con coordinate precise.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it-IT" dirty="0">
              <a:solidFill>
                <a:schemeClr val="bg2">
                  <a:lumMod val="2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8603251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>
            <a:lumMod val="9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45B2B51-9B6E-9085-9C6E-BA896210A3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E02239D2-A05D-4A1C-9F06-FBA7FC730E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88060BCA-A917-0AA6-6F53-18F420CC5E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3768" y="538956"/>
            <a:ext cx="10330782" cy="1118394"/>
          </a:xfrm>
        </p:spPr>
        <p:txBody>
          <a:bodyPr>
            <a:normAutofit/>
          </a:bodyPr>
          <a:lstStyle/>
          <a:p>
            <a:r>
              <a:rPr lang="it-IT" sz="4000" dirty="0">
                <a:solidFill>
                  <a:srgbClr val="0070C0"/>
                </a:solidFill>
              </a:rPr>
              <a:t>AST &amp; Trasformazione</a:t>
            </a:r>
            <a:endParaRPr lang="it-IT" sz="4000" b="1" dirty="0">
              <a:solidFill>
                <a:srgbClr val="0070C0"/>
              </a:solidFill>
            </a:endParaRPr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E6B1F505-5397-1BB4-61E0-2C997CC3E23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09650" y="1847850"/>
            <a:ext cx="9994900" cy="749300"/>
          </a:xfrm>
        </p:spPr>
        <p:txBody>
          <a:bodyPr>
            <a:normAutofit/>
          </a:bodyPr>
          <a:lstStyle/>
          <a:p>
            <a:pPr lvl="0"/>
            <a:r>
              <a:rPr lang="it-IT" sz="2000" b="1" dirty="0">
                <a:solidFill>
                  <a:srgbClr val="0070C0"/>
                </a:solidFill>
              </a:rPr>
              <a:t>Dal CST all'AST:</a:t>
            </a:r>
            <a:r>
              <a:rPr lang="it-IT" sz="2000" dirty="0">
                <a:solidFill>
                  <a:srgbClr val="0070C0"/>
                </a:solidFill>
              </a:rPr>
              <a:t> </a:t>
            </a:r>
            <a:r>
              <a:rPr lang="it-IT" sz="2000" dirty="0">
                <a:solidFill>
                  <a:schemeClr val="bg2">
                    <a:lumMod val="25000"/>
                  </a:schemeClr>
                </a:solidFill>
              </a:rPr>
              <a:t>Eliminazione del rumore sintattico (delimitatori, parole chiave, nodi intermedi di derivazione).</a:t>
            </a:r>
            <a:endParaRPr lang="en-US" sz="2000" dirty="0">
              <a:solidFill>
                <a:schemeClr val="bg2">
                  <a:lumMod val="25000"/>
                </a:schemeClr>
              </a:solidFill>
            </a:endParaRPr>
          </a:p>
        </p:txBody>
      </p:sp>
      <p:sp>
        <p:nvSpPr>
          <p:cNvPr id="5" name="Segnaposto contenuto 3">
            <a:extLst>
              <a:ext uri="{FF2B5EF4-FFF2-40B4-BE49-F238E27FC236}">
                <a16:creationId xmlns:a16="http://schemas.microsoft.com/office/drawing/2014/main" id="{B0A5107D-54F2-B4C1-A372-F55CBDC94ED0}"/>
              </a:ext>
            </a:extLst>
          </p:cNvPr>
          <p:cNvSpPr txBox="1">
            <a:spLocks/>
          </p:cNvSpPr>
          <p:nvPr/>
        </p:nvSpPr>
        <p:spPr>
          <a:xfrm>
            <a:off x="1104900" y="2787651"/>
            <a:ext cx="5103395" cy="22431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it-IT" sz="2000" b="1" dirty="0">
                <a:solidFill>
                  <a:schemeClr val="bg2">
                    <a:lumMod val="25000"/>
                  </a:schemeClr>
                </a:solidFill>
              </a:rPr>
              <a:t>- </a:t>
            </a:r>
            <a:r>
              <a:rPr lang="it-IT" sz="2000" b="1" dirty="0" err="1">
                <a:solidFill>
                  <a:srgbClr val="0070C0"/>
                </a:solidFill>
              </a:rPr>
              <a:t>Binary</a:t>
            </a:r>
            <a:r>
              <a:rPr lang="it-IT" sz="2000" b="1" dirty="0">
                <a:solidFill>
                  <a:srgbClr val="0070C0"/>
                </a:solidFill>
              </a:rPr>
              <a:t> Operator </a:t>
            </a:r>
            <a:r>
              <a:rPr lang="it-IT" sz="2000" b="1" dirty="0" err="1">
                <a:solidFill>
                  <a:srgbClr val="0070C0"/>
                </a:solidFill>
              </a:rPr>
              <a:t>Folding</a:t>
            </a:r>
            <a:r>
              <a:rPr lang="it-IT" sz="2000" b="1" dirty="0">
                <a:solidFill>
                  <a:srgbClr val="0070C0"/>
                </a:solidFill>
              </a:rPr>
              <a:t>:</a:t>
            </a:r>
            <a:endParaRPr lang="it-IT" sz="2000" dirty="0">
              <a:solidFill>
                <a:srgbClr val="0070C0"/>
              </a:solidFill>
            </a:endParaRPr>
          </a:p>
          <a:p>
            <a:pPr lvl="1"/>
            <a:r>
              <a:rPr lang="it-IT" sz="2000" dirty="0">
                <a:solidFill>
                  <a:schemeClr val="bg2">
                    <a:lumMod val="25000"/>
                  </a:schemeClr>
                </a:solidFill>
              </a:rPr>
              <a:t>Problema: regole di ripetizione (*) generano liste piatte di token.</a:t>
            </a:r>
          </a:p>
          <a:p>
            <a:pPr lvl="1"/>
            <a:r>
              <a:rPr lang="it-IT" sz="2000" dirty="0">
                <a:solidFill>
                  <a:schemeClr val="bg2">
                    <a:lumMod val="25000"/>
                  </a:schemeClr>
                </a:solidFill>
              </a:rPr>
              <a:t>Soluzione: pattern ad accumulatore a passi di due che costruisce ricorsivamente un albero strettamente associativo a sinistra.</a:t>
            </a:r>
          </a:p>
        </p:txBody>
      </p:sp>
      <p:sp>
        <p:nvSpPr>
          <p:cNvPr id="7" name="Segnaposto contenuto 3">
            <a:extLst>
              <a:ext uri="{FF2B5EF4-FFF2-40B4-BE49-F238E27FC236}">
                <a16:creationId xmlns:a16="http://schemas.microsoft.com/office/drawing/2014/main" id="{517F4FF6-B482-2F84-5F2F-C1CC76B47141}"/>
              </a:ext>
            </a:extLst>
          </p:cNvPr>
          <p:cNvSpPr txBox="1">
            <a:spLocks/>
          </p:cNvSpPr>
          <p:nvPr/>
        </p:nvSpPr>
        <p:spPr>
          <a:xfrm>
            <a:off x="1104900" y="5569743"/>
            <a:ext cx="9994900" cy="74930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it-IT" sz="2000" b="1" dirty="0">
                <a:solidFill>
                  <a:srgbClr val="0070C0"/>
                </a:solidFill>
              </a:rPr>
              <a:t>Nodi Tipizzati:</a:t>
            </a:r>
            <a:r>
              <a:rPr lang="it-IT" sz="2000" dirty="0">
                <a:solidFill>
                  <a:srgbClr val="0070C0"/>
                </a:solidFill>
              </a:rPr>
              <a:t> </a:t>
            </a:r>
            <a:r>
              <a:rPr lang="it-IT" sz="2000" dirty="0">
                <a:solidFill>
                  <a:schemeClr val="bg2">
                    <a:lumMod val="25000"/>
                  </a:schemeClr>
                </a:solidFill>
              </a:rPr>
              <a:t>Modello ad oggetti pulito (</a:t>
            </a:r>
            <a:r>
              <a:rPr lang="it-IT" sz="2000" dirty="0" err="1">
                <a:solidFill>
                  <a:schemeClr val="bg2">
                    <a:lumMod val="25000"/>
                  </a:schemeClr>
                </a:solidFill>
              </a:rPr>
              <a:t>ProgramNode</a:t>
            </a:r>
            <a:r>
              <a:rPr lang="it-IT" sz="2000" dirty="0">
                <a:solidFill>
                  <a:schemeClr val="bg2">
                    <a:lumMod val="25000"/>
                  </a:schemeClr>
                </a:solidFill>
              </a:rPr>
              <a:t>, </a:t>
            </a:r>
            <a:r>
              <a:rPr lang="it-IT" sz="2000" dirty="0" err="1">
                <a:solidFill>
                  <a:schemeClr val="bg2">
                    <a:lumMod val="25000"/>
                  </a:schemeClr>
                </a:solidFill>
              </a:rPr>
              <a:t>FuncDefNode</a:t>
            </a:r>
            <a:r>
              <a:rPr lang="it-IT" sz="2000" dirty="0">
                <a:solidFill>
                  <a:schemeClr val="bg2">
                    <a:lumMod val="25000"/>
                  </a:schemeClr>
                </a:solidFill>
              </a:rPr>
              <a:t>, </a:t>
            </a:r>
            <a:r>
              <a:rPr lang="it-IT" sz="2000" dirty="0" err="1">
                <a:solidFill>
                  <a:schemeClr val="bg2">
                    <a:lumMod val="25000"/>
                  </a:schemeClr>
                </a:solidFill>
              </a:rPr>
              <a:t>BinOpNode</a:t>
            </a:r>
            <a:r>
              <a:rPr lang="it-IT" sz="2000" dirty="0">
                <a:solidFill>
                  <a:schemeClr val="bg2">
                    <a:lumMod val="25000"/>
                  </a:schemeClr>
                </a:solidFill>
              </a:rPr>
              <a:t>, ecc.) che isola il front-end dal resto della pipeline</a:t>
            </a:r>
          </a:p>
        </p:txBody>
      </p:sp>
      <p:sp>
        <p:nvSpPr>
          <p:cNvPr id="8" name="CasellaDiTesto 7">
            <a:extLst>
              <a:ext uri="{FF2B5EF4-FFF2-40B4-BE49-F238E27FC236}">
                <a16:creationId xmlns:a16="http://schemas.microsoft.com/office/drawing/2014/main" id="{D25F72C4-711D-5A63-994C-45192A3F4BA6}"/>
              </a:ext>
            </a:extLst>
          </p:cNvPr>
          <p:cNvSpPr txBox="1"/>
          <p:nvPr/>
        </p:nvSpPr>
        <p:spPr>
          <a:xfrm>
            <a:off x="8468404" y="2602984"/>
            <a:ext cx="174919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dirty="0">
                <a:solidFill>
                  <a:schemeClr val="bg2">
                    <a:lumMod val="25000"/>
                  </a:schemeClr>
                </a:solidFill>
              </a:rPr>
              <a:t>[10, "-", 3, "-", 2]</a:t>
            </a:r>
          </a:p>
        </p:txBody>
      </p:sp>
      <p:sp>
        <p:nvSpPr>
          <p:cNvPr id="10" name="CasellaDiTesto 9">
            <a:extLst>
              <a:ext uri="{FF2B5EF4-FFF2-40B4-BE49-F238E27FC236}">
                <a16:creationId xmlns:a16="http://schemas.microsoft.com/office/drawing/2014/main" id="{D67A9A87-7D17-670A-FD10-1B84770D6A18}"/>
              </a:ext>
            </a:extLst>
          </p:cNvPr>
          <p:cNvSpPr txBox="1"/>
          <p:nvPr/>
        </p:nvSpPr>
        <p:spPr>
          <a:xfrm>
            <a:off x="7313215" y="3374864"/>
            <a:ext cx="3773885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>
                <a:solidFill>
                  <a:schemeClr val="bg2">
                    <a:lumMod val="25000"/>
                  </a:schemeClr>
                </a:solidFill>
              </a:rPr>
              <a:t>	          </a:t>
            </a:r>
            <a:r>
              <a:rPr lang="it-IT" dirty="0" err="1">
                <a:solidFill>
                  <a:schemeClr val="bg2">
                    <a:lumMod val="25000"/>
                  </a:schemeClr>
                </a:solidFill>
              </a:rPr>
              <a:t>BinOpNode</a:t>
            </a:r>
            <a:r>
              <a:rPr lang="it-IT" dirty="0">
                <a:solidFill>
                  <a:schemeClr val="bg2">
                    <a:lumMod val="25000"/>
                  </a:schemeClr>
                </a:solidFill>
              </a:rPr>
              <a:t> (-)</a:t>
            </a:r>
          </a:p>
          <a:p>
            <a:r>
              <a:rPr lang="it-IT" dirty="0">
                <a:solidFill>
                  <a:schemeClr val="bg2">
                    <a:lumMod val="25000"/>
                  </a:schemeClr>
                </a:solidFill>
              </a:rPr>
              <a:t> 		/ \ </a:t>
            </a:r>
          </a:p>
          <a:p>
            <a:r>
              <a:rPr lang="it-IT" dirty="0">
                <a:solidFill>
                  <a:schemeClr val="bg2">
                    <a:lumMod val="25000"/>
                  </a:schemeClr>
                </a:solidFill>
              </a:rPr>
              <a:t>	               /      \ </a:t>
            </a:r>
          </a:p>
          <a:p>
            <a:r>
              <a:rPr lang="it-IT" dirty="0">
                <a:solidFill>
                  <a:schemeClr val="bg2">
                    <a:lumMod val="25000"/>
                  </a:schemeClr>
                </a:solidFill>
              </a:rPr>
              <a:t>           </a:t>
            </a:r>
            <a:r>
              <a:rPr lang="it-IT" dirty="0" err="1">
                <a:solidFill>
                  <a:schemeClr val="bg2">
                    <a:lumMod val="25000"/>
                  </a:schemeClr>
                </a:solidFill>
              </a:rPr>
              <a:t>BinOpNode</a:t>
            </a:r>
            <a:r>
              <a:rPr lang="it-IT" dirty="0">
                <a:solidFill>
                  <a:schemeClr val="bg2">
                    <a:lumMod val="25000"/>
                  </a:schemeClr>
                </a:solidFill>
              </a:rPr>
              <a:t> (-)    </a:t>
            </a:r>
            <a:r>
              <a:rPr lang="it-IT" dirty="0" err="1">
                <a:solidFill>
                  <a:schemeClr val="bg2">
                    <a:lumMod val="25000"/>
                  </a:schemeClr>
                </a:solidFill>
              </a:rPr>
              <a:t>Literal</a:t>
            </a:r>
            <a:r>
              <a:rPr lang="it-IT" dirty="0">
                <a:solidFill>
                  <a:schemeClr val="bg2">
                    <a:lumMod val="25000"/>
                  </a:schemeClr>
                </a:solidFill>
              </a:rPr>
              <a:t>(2)</a:t>
            </a:r>
          </a:p>
          <a:p>
            <a:r>
              <a:rPr lang="it-IT" dirty="0">
                <a:solidFill>
                  <a:schemeClr val="bg2">
                    <a:lumMod val="25000"/>
                  </a:schemeClr>
                </a:solidFill>
              </a:rPr>
              <a:t> 	/ \</a:t>
            </a:r>
          </a:p>
          <a:p>
            <a:r>
              <a:rPr lang="it-IT" dirty="0">
                <a:solidFill>
                  <a:schemeClr val="bg2">
                    <a:lumMod val="25000"/>
                  </a:schemeClr>
                </a:solidFill>
              </a:rPr>
              <a:t>               /      \ </a:t>
            </a:r>
          </a:p>
          <a:p>
            <a:r>
              <a:rPr lang="it-IT" dirty="0">
                <a:solidFill>
                  <a:schemeClr val="bg2">
                    <a:lumMod val="25000"/>
                  </a:schemeClr>
                </a:solidFill>
              </a:rPr>
              <a:t> </a:t>
            </a:r>
            <a:r>
              <a:rPr lang="it-IT" dirty="0" err="1">
                <a:solidFill>
                  <a:schemeClr val="bg2">
                    <a:lumMod val="25000"/>
                  </a:schemeClr>
                </a:solidFill>
              </a:rPr>
              <a:t>Literal</a:t>
            </a:r>
            <a:r>
              <a:rPr lang="it-IT" dirty="0">
                <a:solidFill>
                  <a:schemeClr val="bg2">
                    <a:lumMod val="25000"/>
                  </a:schemeClr>
                </a:solidFill>
              </a:rPr>
              <a:t>(10)  </a:t>
            </a:r>
            <a:r>
              <a:rPr lang="it-IT" dirty="0" err="1">
                <a:solidFill>
                  <a:schemeClr val="bg2">
                    <a:lumMod val="25000"/>
                  </a:schemeClr>
                </a:solidFill>
              </a:rPr>
              <a:t>Literal</a:t>
            </a:r>
            <a:r>
              <a:rPr lang="it-IT" dirty="0">
                <a:solidFill>
                  <a:schemeClr val="bg2">
                    <a:lumMod val="25000"/>
                  </a:schemeClr>
                </a:solidFill>
              </a:rPr>
              <a:t>(3)</a:t>
            </a:r>
          </a:p>
        </p:txBody>
      </p:sp>
      <p:cxnSp>
        <p:nvCxnSpPr>
          <p:cNvPr id="14" name="Connettore diritto a freccia 13">
            <a:extLst>
              <a:ext uri="{FF2B5EF4-FFF2-40B4-BE49-F238E27FC236}">
                <a16:creationId xmlns:a16="http://schemas.microsoft.com/office/drawing/2014/main" id="{B39DD0C9-EB0A-A5BD-C69A-940EAB22032D}"/>
              </a:ext>
            </a:extLst>
          </p:cNvPr>
          <p:cNvCxnSpPr>
            <a:stCxn id="8" idx="2"/>
          </p:cNvCxnSpPr>
          <p:nvPr/>
        </p:nvCxnSpPr>
        <p:spPr>
          <a:xfrm flipH="1">
            <a:off x="9343002" y="2972316"/>
            <a:ext cx="1" cy="402548"/>
          </a:xfrm>
          <a:prstGeom prst="straightConnector1">
            <a:avLst/>
          </a:prstGeom>
          <a:ln w="41275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3507693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>
            <a:lumMod val="9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D83D882F-69E2-62D9-F8C1-6E2C2847D1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it-IT" sz="4000" dirty="0">
                <a:solidFill>
                  <a:srgbClr val="0070C0"/>
                </a:solidFill>
              </a:rPr>
              <a:t>Middle-End: Analisi Semantica e </a:t>
            </a:r>
            <a:r>
              <a:rPr lang="it-IT" sz="4000" dirty="0" err="1">
                <a:solidFill>
                  <a:srgbClr val="0070C0"/>
                </a:solidFill>
              </a:rPr>
              <a:t>Scoping</a:t>
            </a:r>
            <a:endParaRPr lang="it-IT" sz="4000" dirty="0">
              <a:solidFill>
                <a:srgbClr val="0070C0"/>
              </a:solidFill>
            </a:endParaRP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31E0172D-CF0B-4D0F-BDF1-3E3149B5B486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pPr lvl="0"/>
            <a:r>
              <a:rPr lang="it-IT" sz="2000" b="1" dirty="0">
                <a:solidFill>
                  <a:srgbClr val="0070C0"/>
                </a:solidFill>
              </a:rPr>
              <a:t>Architettura a Due Passate:</a:t>
            </a:r>
            <a:endParaRPr lang="it-IT" sz="2000" dirty="0">
              <a:solidFill>
                <a:srgbClr val="0070C0"/>
              </a:solidFill>
            </a:endParaRPr>
          </a:p>
          <a:p>
            <a:pPr lvl="1"/>
            <a:r>
              <a:rPr lang="it-IT" sz="2000" i="1" dirty="0">
                <a:solidFill>
                  <a:schemeClr val="bg2">
                    <a:lumMod val="25000"/>
                  </a:schemeClr>
                </a:solidFill>
              </a:rPr>
              <a:t>Passata 1 (</a:t>
            </a:r>
            <a:r>
              <a:rPr lang="it-IT" sz="2000" i="1" dirty="0" err="1">
                <a:solidFill>
                  <a:schemeClr val="bg2">
                    <a:lumMod val="25000"/>
                  </a:schemeClr>
                </a:solidFill>
              </a:rPr>
              <a:t>Harvesting</a:t>
            </a:r>
            <a:r>
              <a:rPr lang="it-IT" sz="2000" i="1" dirty="0">
                <a:solidFill>
                  <a:schemeClr val="bg2">
                    <a:lumMod val="25000"/>
                  </a:schemeClr>
                </a:solidFill>
              </a:rPr>
              <a:t>):</a:t>
            </a:r>
            <a:r>
              <a:rPr lang="it-IT" sz="2000" dirty="0">
                <a:solidFill>
                  <a:schemeClr val="bg2">
                    <a:lumMod val="25000"/>
                  </a:schemeClr>
                </a:solidFill>
              </a:rPr>
              <a:t> Registrazione delle firme delle funzioni nella tabella globale; verifica dell'entry-point </a:t>
            </a:r>
            <a:r>
              <a:rPr lang="it-IT" sz="2000" dirty="0" err="1">
                <a:solidFill>
                  <a:schemeClr val="bg2">
                    <a:lumMod val="25000"/>
                  </a:schemeClr>
                </a:solidFill>
              </a:rPr>
              <a:t>main</a:t>
            </a:r>
            <a:r>
              <a:rPr lang="it-IT" sz="2000" dirty="0">
                <a:solidFill>
                  <a:schemeClr val="bg2">
                    <a:lumMod val="25000"/>
                  </a:schemeClr>
                </a:solidFill>
              </a:rPr>
              <a:t>; abilitazione di </a:t>
            </a:r>
            <a:r>
              <a:rPr lang="it-IT" sz="2000" dirty="0" err="1">
                <a:solidFill>
                  <a:schemeClr val="bg2">
                    <a:lumMod val="25000"/>
                  </a:schemeClr>
                </a:solidFill>
              </a:rPr>
              <a:t>forward</a:t>
            </a:r>
            <a:r>
              <a:rPr lang="it-IT" sz="2000" dirty="0">
                <a:solidFill>
                  <a:schemeClr val="bg2">
                    <a:lumMod val="25000"/>
                  </a:schemeClr>
                </a:solidFill>
              </a:rPr>
              <a:t> </a:t>
            </a:r>
            <a:r>
              <a:rPr lang="it-IT" sz="2000" dirty="0" err="1">
                <a:solidFill>
                  <a:schemeClr val="bg2">
                    <a:lumMod val="25000"/>
                  </a:schemeClr>
                </a:solidFill>
              </a:rPr>
              <a:t>referencing</a:t>
            </a:r>
            <a:r>
              <a:rPr lang="it-IT" sz="2000" dirty="0">
                <a:solidFill>
                  <a:schemeClr val="bg2">
                    <a:lumMod val="25000"/>
                  </a:schemeClr>
                </a:solidFill>
              </a:rPr>
              <a:t> e mutua </a:t>
            </a:r>
            <a:r>
              <a:rPr lang="it-IT" sz="2000" dirty="0" err="1">
                <a:solidFill>
                  <a:schemeClr val="bg2">
                    <a:lumMod val="25000"/>
                  </a:schemeClr>
                </a:solidFill>
              </a:rPr>
              <a:t>ricorsione</a:t>
            </a:r>
            <a:r>
              <a:rPr lang="it-IT" sz="2000" dirty="0">
                <a:solidFill>
                  <a:schemeClr val="bg2">
                    <a:lumMod val="25000"/>
                  </a:schemeClr>
                </a:solidFill>
              </a:rPr>
              <a:t>.</a:t>
            </a:r>
          </a:p>
          <a:p>
            <a:pPr lvl="1"/>
            <a:r>
              <a:rPr lang="it-IT" sz="2000" i="1" dirty="0">
                <a:solidFill>
                  <a:schemeClr val="bg2">
                    <a:lumMod val="25000"/>
                  </a:schemeClr>
                </a:solidFill>
              </a:rPr>
              <a:t>Passata 2 (</a:t>
            </a:r>
            <a:r>
              <a:rPr lang="it-IT" sz="2000" i="1" dirty="0" err="1">
                <a:solidFill>
                  <a:schemeClr val="bg2">
                    <a:lumMod val="25000"/>
                  </a:schemeClr>
                </a:solidFill>
              </a:rPr>
              <a:t>Validation</a:t>
            </a:r>
            <a:r>
              <a:rPr lang="it-IT" sz="2000" i="1" dirty="0">
                <a:solidFill>
                  <a:schemeClr val="bg2">
                    <a:lumMod val="25000"/>
                  </a:schemeClr>
                </a:solidFill>
              </a:rPr>
              <a:t>):</a:t>
            </a:r>
            <a:r>
              <a:rPr lang="it-IT" sz="2000" dirty="0">
                <a:solidFill>
                  <a:schemeClr val="bg2">
                    <a:lumMod val="25000"/>
                  </a:schemeClr>
                </a:solidFill>
              </a:rPr>
              <a:t> Validazione semantica dei corpi, </a:t>
            </a:r>
            <a:r>
              <a:rPr lang="it-IT" sz="2000" dirty="0" err="1">
                <a:solidFill>
                  <a:schemeClr val="bg2">
                    <a:lumMod val="25000"/>
                  </a:schemeClr>
                </a:solidFill>
              </a:rPr>
              <a:t>type</a:t>
            </a:r>
            <a:r>
              <a:rPr lang="it-IT" sz="2000" dirty="0">
                <a:solidFill>
                  <a:schemeClr val="bg2">
                    <a:lumMod val="25000"/>
                  </a:schemeClr>
                </a:solidFill>
              </a:rPr>
              <a:t> checking e risoluzione dei simboli.</a:t>
            </a:r>
          </a:p>
        </p:txBody>
      </p:sp>
      <p:sp>
        <p:nvSpPr>
          <p:cNvPr id="5" name="Segnaposto contenuto 4">
            <a:extLst>
              <a:ext uri="{FF2B5EF4-FFF2-40B4-BE49-F238E27FC236}">
                <a16:creationId xmlns:a16="http://schemas.microsoft.com/office/drawing/2014/main" id="{AC13326F-D9AF-4729-EEB4-82AB75385A71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/>
          </a:bodyPr>
          <a:lstStyle/>
          <a:p>
            <a:r>
              <a:rPr lang="it-IT" sz="2000" b="1" dirty="0">
                <a:solidFill>
                  <a:srgbClr val="0070C0"/>
                </a:solidFill>
              </a:rPr>
              <a:t>Symbol Table &amp; </a:t>
            </a:r>
            <a:r>
              <a:rPr lang="it-IT" sz="2000" b="1" dirty="0" err="1">
                <a:solidFill>
                  <a:srgbClr val="0070C0"/>
                </a:solidFill>
              </a:rPr>
              <a:t>Scoping</a:t>
            </a:r>
            <a:r>
              <a:rPr lang="it-IT" sz="2000" b="1" dirty="0">
                <a:solidFill>
                  <a:srgbClr val="0070C0"/>
                </a:solidFill>
              </a:rPr>
              <a:t>:</a:t>
            </a:r>
            <a:endParaRPr lang="it-IT" sz="2000" dirty="0">
              <a:solidFill>
                <a:srgbClr val="0070C0"/>
              </a:solidFill>
            </a:endParaRPr>
          </a:p>
          <a:p>
            <a:pPr lvl="1"/>
            <a:r>
              <a:rPr lang="it-IT" sz="2000" dirty="0">
                <a:solidFill>
                  <a:schemeClr val="bg2">
                    <a:lumMod val="25000"/>
                  </a:schemeClr>
                </a:solidFill>
              </a:rPr>
              <a:t>Pila/Albero di ambienti lessicali con puntatore a </a:t>
            </a:r>
            <a:r>
              <a:rPr lang="it-IT" sz="2000" dirty="0" err="1">
                <a:solidFill>
                  <a:schemeClr val="bg2">
                    <a:lumMod val="25000"/>
                  </a:schemeClr>
                </a:solidFill>
              </a:rPr>
              <a:t>parent</a:t>
            </a:r>
            <a:r>
              <a:rPr lang="it-IT" sz="2000" dirty="0">
                <a:solidFill>
                  <a:schemeClr val="bg2">
                    <a:lumMod val="25000"/>
                  </a:schemeClr>
                </a:solidFill>
              </a:rPr>
              <a:t>.</a:t>
            </a:r>
          </a:p>
          <a:p>
            <a:pPr lvl="1"/>
            <a:r>
              <a:rPr lang="it-IT" sz="2000" dirty="0">
                <a:solidFill>
                  <a:schemeClr val="bg2">
                    <a:lumMod val="25000"/>
                  </a:schemeClr>
                </a:solidFill>
              </a:rPr>
              <a:t>Gestione differenziata tra ridefinizione illecita (stesso scope) e </a:t>
            </a:r>
            <a:r>
              <a:rPr lang="it-IT" sz="2000" i="1" dirty="0" err="1">
                <a:solidFill>
                  <a:schemeClr val="bg2">
                    <a:lumMod val="25000"/>
                  </a:schemeClr>
                </a:solidFill>
              </a:rPr>
              <a:t>shadowing</a:t>
            </a:r>
            <a:r>
              <a:rPr lang="it-IT" sz="2000" dirty="0">
                <a:solidFill>
                  <a:schemeClr val="bg2">
                    <a:lumMod val="25000"/>
                  </a:schemeClr>
                </a:solidFill>
              </a:rPr>
              <a:t> lecito (scope annidati).</a:t>
            </a:r>
          </a:p>
          <a:p>
            <a:pPr marL="457200" lvl="1" indent="0">
              <a:buNone/>
            </a:pPr>
            <a:endParaRPr lang="it-IT" sz="2000" dirty="0">
              <a:solidFill>
                <a:schemeClr val="bg2">
                  <a:lumMod val="25000"/>
                </a:schemeClr>
              </a:solidFill>
            </a:endParaRPr>
          </a:p>
          <a:p>
            <a:r>
              <a:rPr lang="it-IT" sz="2000" b="1" dirty="0">
                <a:solidFill>
                  <a:srgbClr val="0070C0"/>
                </a:solidFill>
              </a:rPr>
              <a:t>Control Flow Statico:</a:t>
            </a:r>
            <a:r>
              <a:rPr lang="it-IT" sz="2000" dirty="0">
                <a:solidFill>
                  <a:srgbClr val="0070C0"/>
                </a:solidFill>
              </a:rPr>
              <a:t> </a:t>
            </a:r>
            <a:r>
              <a:rPr lang="it-IT" sz="2000" dirty="0">
                <a:solidFill>
                  <a:schemeClr val="bg2">
                    <a:lumMod val="25000"/>
                  </a:schemeClr>
                </a:solidFill>
              </a:rPr>
              <a:t>Algoritmo ricorsivo per la verifica del ritorno garantito su tutti i rami di esecuzione (</a:t>
            </a:r>
            <a:r>
              <a:rPr lang="it-IT" sz="2000" dirty="0" err="1">
                <a:solidFill>
                  <a:schemeClr val="bg2">
                    <a:lumMod val="25000"/>
                  </a:schemeClr>
                </a:solidFill>
              </a:rPr>
              <a:t>check_all_paths_return</a:t>
            </a:r>
            <a:r>
              <a:rPr lang="it-IT" sz="2000" dirty="0">
                <a:solidFill>
                  <a:schemeClr val="bg2">
                    <a:lumMod val="25000"/>
                  </a:schemeClr>
                </a:solidFill>
              </a:rPr>
              <a:t>).</a:t>
            </a:r>
          </a:p>
        </p:txBody>
      </p:sp>
    </p:spTree>
    <p:extLst>
      <p:ext uri="{BB962C8B-B14F-4D97-AF65-F5344CB8AC3E}">
        <p14:creationId xmlns:p14="http://schemas.microsoft.com/office/powerpoint/2010/main" val="275593589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>
            <a:lumMod val="9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C463344-287E-BCE5-EF72-583FB8EA59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2" name="Rectangle 21">
            <a:extLst>
              <a:ext uri="{FF2B5EF4-FFF2-40B4-BE49-F238E27FC236}">
                <a16:creationId xmlns:a16="http://schemas.microsoft.com/office/drawing/2014/main" id="{6CC7D015-0DD8-420F-A568-AC4FEDC412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3166F0C1-CA5D-3E39-14DB-0AFA08CF5C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3550" y="557189"/>
            <a:ext cx="11728450" cy="731067"/>
          </a:xfrm>
        </p:spPr>
        <p:txBody>
          <a:bodyPr>
            <a:normAutofit/>
          </a:bodyPr>
          <a:lstStyle/>
          <a:p>
            <a:r>
              <a:rPr lang="it-IT" b="1" dirty="0">
                <a:solidFill>
                  <a:srgbClr val="0070C0"/>
                </a:solidFill>
              </a:rPr>
              <a:t>Back-End: Generazione Codice LLVM IR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ADC5403A-B0C5-0469-5BC9-8412395094A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3550" y="1657548"/>
            <a:ext cx="10890250" cy="1616464"/>
          </a:xfrm>
        </p:spPr>
        <p:txBody>
          <a:bodyPr anchor="ctr">
            <a:normAutofit lnSpcReduction="10000"/>
          </a:bodyPr>
          <a:lstStyle/>
          <a:p>
            <a:pPr lvl="0"/>
            <a:r>
              <a:rPr lang="it-IT" sz="1900" b="1" dirty="0">
                <a:solidFill>
                  <a:srgbClr val="0070C0"/>
                </a:solidFill>
              </a:rPr>
              <a:t>Modello Memory-Based (alloca/load/store):</a:t>
            </a:r>
            <a:endParaRPr lang="it-IT" sz="1900" dirty="0">
              <a:solidFill>
                <a:srgbClr val="0070C0"/>
              </a:solidFill>
            </a:endParaRPr>
          </a:p>
          <a:p>
            <a:pPr lvl="1"/>
            <a:r>
              <a:rPr lang="it-IT" sz="1900" dirty="0">
                <a:solidFill>
                  <a:schemeClr val="bg2">
                    <a:lumMod val="25000"/>
                  </a:schemeClr>
                </a:solidFill>
              </a:rPr>
              <a:t>Ogni variabile e parametro è gestito come puntatore su </a:t>
            </a:r>
            <a:r>
              <a:rPr lang="it-IT" sz="1900" dirty="0" err="1">
                <a:solidFill>
                  <a:schemeClr val="bg2">
                    <a:lumMod val="25000"/>
                  </a:schemeClr>
                </a:solidFill>
              </a:rPr>
              <a:t>stack</a:t>
            </a:r>
            <a:r>
              <a:rPr lang="it-IT" sz="1900" dirty="0">
                <a:solidFill>
                  <a:schemeClr val="bg2">
                    <a:lumMod val="25000"/>
                  </a:schemeClr>
                </a:solidFill>
              </a:rPr>
              <a:t>.</a:t>
            </a:r>
          </a:p>
          <a:p>
            <a:pPr lvl="1"/>
            <a:r>
              <a:rPr lang="it-IT" sz="1900" dirty="0">
                <a:solidFill>
                  <a:schemeClr val="bg2">
                    <a:lumMod val="25000"/>
                  </a:schemeClr>
                </a:solidFill>
              </a:rPr>
              <a:t>Nessuna emissione manuale di nodi phi: delega formale ad SSA al passo mem2reg di LLVM.</a:t>
            </a:r>
          </a:p>
          <a:p>
            <a:pPr lvl="0"/>
            <a:r>
              <a:rPr lang="it-IT" sz="1900" b="1" dirty="0">
                <a:solidFill>
                  <a:srgbClr val="0070C0"/>
                </a:solidFill>
              </a:rPr>
              <a:t>Alloca </a:t>
            </a:r>
            <a:r>
              <a:rPr lang="it-IT" sz="1900" b="1" dirty="0" err="1">
                <a:solidFill>
                  <a:srgbClr val="0070C0"/>
                </a:solidFill>
              </a:rPr>
              <a:t>Hoisting</a:t>
            </a:r>
            <a:r>
              <a:rPr lang="it-IT" sz="1900" b="1" dirty="0">
                <a:solidFill>
                  <a:srgbClr val="0070C0"/>
                </a:solidFill>
              </a:rPr>
              <a:t>:</a:t>
            </a:r>
            <a:r>
              <a:rPr lang="it-IT" sz="1900" dirty="0">
                <a:solidFill>
                  <a:srgbClr val="0070C0"/>
                </a:solidFill>
              </a:rPr>
              <a:t> </a:t>
            </a:r>
            <a:r>
              <a:rPr lang="it-IT" sz="1900" dirty="0">
                <a:solidFill>
                  <a:schemeClr val="bg2">
                    <a:lumMod val="25000"/>
                  </a:schemeClr>
                </a:solidFill>
              </a:rPr>
              <a:t>Tutte le allocazioni sono ancorate all'inizio del blocco entry per azzerare lo spreco di </a:t>
            </a:r>
            <a:r>
              <a:rPr lang="it-IT" sz="1900" dirty="0" err="1">
                <a:solidFill>
                  <a:schemeClr val="bg2">
                    <a:lumMod val="25000"/>
                  </a:schemeClr>
                </a:solidFill>
              </a:rPr>
              <a:t>stack</a:t>
            </a:r>
            <a:r>
              <a:rPr lang="it-IT" sz="1900" dirty="0">
                <a:solidFill>
                  <a:schemeClr val="bg2">
                    <a:lumMod val="25000"/>
                  </a:schemeClr>
                </a:solidFill>
              </a:rPr>
              <a:t> nei cicli.</a:t>
            </a:r>
          </a:p>
        </p:txBody>
      </p:sp>
      <p:sp>
        <p:nvSpPr>
          <p:cNvPr id="5" name="Segnaposto contenuto 2">
            <a:extLst>
              <a:ext uri="{FF2B5EF4-FFF2-40B4-BE49-F238E27FC236}">
                <a16:creationId xmlns:a16="http://schemas.microsoft.com/office/drawing/2014/main" id="{5F995469-DB9A-0BDA-4DD1-F0AB74B3BD6C}"/>
              </a:ext>
            </a:extLst>
          </p:cNvPr>
          <p:cNvSpPr txBox="1">
            <a:spLocks/>
          </p:cNvSpPr>
          <p:nvPr/>
        </p:nvSpPr>
        <p:spPr>
          <a:xfrm>
            <a:off x="463550" y="3583989"/>
            <a:ext cx="10890250" cy="107027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it-IT" sz="1900" b="1" dirty="0">
                <a:solidFill>
                  <a:srgbClr val="0070C0"/>
                </a:solidFill>
              </a:rPr>
              <a:t>Control-Flow Graph (CFG):</a:t>
            </a:r>
            <a:endParaRPr lang="it-IT" sz="1900" dirty="0">
              <a:solidFill>
                <a:srgbClr val="0070C0"/>
              </a:solidFill>
            </a:endParaRPr>
          </a:p>
          <a:p>
            <a:pPr lvl="1"/>
            <a:r>
              <a:rPr lang="it-IT" sz="1900" dirty="0">
                <a:solidFill>
                  <a:schemeClr val="bg2">
                    <a:lumMod val="25000"/>
                  </a:schemeClr>
                </a:solidFill>
              </a:rPr>
              <a:t>Generazione dei Basic Block per </a:t>
            </a:r>
            <a:r>
              <a:rPr lang="it-IT" sz="1900" dirty="0" err="1">
                <a:solidFill>
                  <a:schemeClr val="bg2">
                    <a:lumMod val="25000"/>
                  </a:schemeClr>
                </a:solidFill>
              </a:rPr>
              <a:t>if</a:t>
            </a:r>
            <a:r>
              <a:rPr lang="it-IT" sz="1900" dirty="0">
                <a:solidFill>
                  <a:schemeClr val="bg2">
                    <a:lumMod val="25000"/>
                  </a:schemeClr>
                </a:solidFill>
              </a:rPr>
              <a:t>-</a:t>
            </a:r>
            <a:r>
              <a:rPr lang="it-IT" sz="1900" dirty="0" err="1">
                <a:solidFill>
                  <a:schemeClr val="bg2">
                    <a:lumMod val="25000"/>
                  </a:schemeClr>
                </a:solidFill>
              </a:rPr>
              <a:t>then</a:t>
            </a:r>
            <a:r>
              <a:rPr lang="it-IT" sz="1900" dirty="0">
                <a:solidFill>
                  <a:schemeClr val="bg2">
                    <a:lumMod val="25000"/>
                  </a:schemeClr>
                </a:solidFill>
              </a:rPr>
              <a:t>-else e </a:t>
            </a:r>
            <a:r>
              <a:rPr lang="it-IT" sz="1900" dirty="0" err="1">
                <a:solidFill>
                  <a:schemeClr val="bg2">
                    <a:lumMod val="25000"/>
                  </a:schemeClr>
                </a:solidFill>
              </a:rPr>
              <a:t>while</a:t>
            </a:r>
            <a:r>
              <a:rPr lang="it-IT" sz="1900" dirty="0">
                <a:solidFill>
                  <a:schemeClr val="bg2">
                    <a:lumMod val="25000"/>
                  </a:schemeClr>
                </a:solidFill>
              </a:rPr>
              <a:t>.</a:t>
            </a:r>
          </a:p>
          <a:p>
            <a:pPr lvl="1"/>
            <a:r>
              <a:rPr lang="it-IT" sz="1900" dirty="0">
                <a:solidFill>
                  <a:schemeClr val="bg2">
                    <a:lumMod val="25000"/>
                  </a:schemeClr>
                </a:solidFill>
              </a:rPr>
              <a:t>Prevenzione di codice morto tramite controllo </a:t>
            </a:r>
            <a:r>
              <a:rPr lang="it-IT" sz="1900" dirty="0" err="1">
                <a:solidFill>
                  <a:schemeClr val="bg2">
                    <a:lumMod val="25000"/>
                  </a:schemeClr>
                </a:solidFill>
              </a:rPr>
              <a:t>is_terminated</a:t>
            </a:r>
            <a:r>
              <a:rPr lang="it-IT" sz="1900" dirty="0">
                <a:solidFill>
                  <a:schemeClr val="bg2">
                    <a:lumMod val="25000"/>
                  </a:schemeClr>
                </a:solidFill>
              </a:rPr>
              <a:t>.</a:t>
            </a:r>
          </a:p>
        </p:txBody>
      </p:sp>
      <p:sp>
        <p:nvSpPr>
          <p:cNvPr id="6" name="Segnaposto contenuto 2">
            <a:extLst>
              <a:ext uri="{FF2B5EF4-FFF2-40B4-BE49-F238E27FC236}">
                <a16:creationId xmlns:a16="http://schemas.microsoft.com/office/drawing/2014/main" id="{BD221F1E-B9FA-BC9E-1EFE-C105A8CF971A}"/>
              </a:ext>
            </a:extLst>
          </p:cNvPr>
          <p:cNvSpPr txBox="1">
            <a:spLocks/>
          </p:cNvSpPr>
          <p:nvPr/>
        </p:nvSpPr>
        <p:spPr>
          <a:xfrm>
            <a:off x="463550" y="4798134"/>
            <a:ext cx="10890250" cy="145655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it-IT" sz="1900" b="1" dirty="0">
                <a:solidFill>
                  <a:srgbClr val="0070C0"/>
                </a:solidFill>
              </a:rPr>
              <a:t>Runtime C Bridge:</a:t>
            </a:r>
            <a:endParaRPr lang="it-IT" sz="1900" dirty="0">
              <a:solidFill>
                <a:srgbClr val="0070C0"/>
              </a:solidFill>
            </a:endParaRPr>
          </a:p>
          <a:p>
            <a:pPr lvl="1"/>
            <a:r>
              <a:rPr lang="it-IT" sz="1900" dirty="0">
                <a:solidFill>
                  <a:schemeClr val="bg2">
                    <a:lumMod val="25000"/>
                  </a:schemeClr>
                </a:solidFill>
              </a:rPr>
              <a:t>Integrazione con </a:t>
            </a:r>
            <a:r>
              <a:rPr lang="it-IT" sz="1900" dirty="0" err="1">
                <a:solidFill>
                  <a:schemeClr val="bg2">
                    <a:lumMod val="25000"/>
                  </a:schemeClr>
                </a:solidFill>
              </a:rPr>
              <a:t>printf</a:t>
            </a:r>
            <a:r>
              <a:rPr lang="it-IT" sz="1900" dirty="0">
                <a:solidFill>
                  <a:schemeClr val="bg2">
                    <a:lumMod val="25000"/>
                  </a:schemeClr>
                </a:solidFill>
              </a:rPr>
              <a:t> e </a:t>
            </a:r>
            <a:r>
              <a:rPr lang="it-IT" sz="1900" dirty="0" err="1">
                <a:solidFill>
                  <a:schemeClr val="bg2">
                    <a:lumMod val="25000"/>
                  </a:schemeClr>
                </a:solidFill>
              </a:rPr>
              <a:t>scanf</a:t>
            </a:r>
            <a:r>
              <a:rPr lang="it-IT" sz="1900" dirty="0">
                <a:solidFill>
                  <a:schemeClr val="bg2">
                    <a:lumMod val="25000"/>
                  </a:schemeClr>
                </a:solidFill>
              </a:rPr>
              <a:t>.</a:t>
            </a:r>
          </a:p>
          <a:p>
            <a:pPr lvl="1"/>
            <a:r>
              <a:rPr lang="it-IT" sz="1900" dirty="0">
                <a:solidFill>
                  <a:schemeClr val="bg2">
                    <a:lumMod val="25000"/>
                  </a:schemeClr>
                </a:solidFill>
              </a:rPr>
              <a:t>Indirizzamento stringhe tramite </a:t>
            </a:r>
            <a:r>
              <a:rPr lang="it-IT" sz="1900" dirty="0" err="1">
                <a:solidFill>
                  <a:schemeClr val="bg2">
                    <a:lumMod val="25000"/>
                  </a:schemeClr>
                </a:solidFill>
              </a:rPr>
              <a:t>gep</a:t>
            </a:r>
            <a:r>
              <a:rPr lang="it-IT" sz="1900" dirty="0">
                <a:solidFill>
                  <a:schemeClr val="bg2">
                    <a:lumMod val="25000"/>
                  </a:schemeClr>
                </a:solidFill>
              </a:rPr>
              <a:t> con doppio indice [0, 0] per conversione esplicita da [</a:t>
            </a:r>
            <a:r>
              <a:rPr lang="it-IT" sz="1900" dirty="0" err="1">
                <a:solidFill>
                  <a:schemeClr val="bg2">
                    <a:lumMod val="25000"/>
                  </a:schemeClr>
                </a:solidFill>
              </a:rPr>
              <a:t>N</a:t>
            </a:r>
            <a:r>
              <a:rPr lang="it-IT" sz="1900" dirty="0">
                <a:solidFill>
                  <a:schemeClr val="bg2">
                    <a:lumMod val="25000"/>
                  </a:schemeClr>
                </a:solidFill>
              </a:rPr>
              <a:t> x i8]* a i8*.</a:t>
            </a:r>
          </a:p>
        </p:txBody>
      </p:sp>
    </p:spTree>
    <p:extLst>
      <p:ext uri="{BB962C8B-B14F-4D97-AF65-F5344CB8AC3E}">
        <p14:creationId xmlns:p14="http://schemas.microsoft.com/office/powerpoint/2010/main" val="199973108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>
            <a:lumMod val="9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055E06F-7B60-9EBE-50B6-502F7A7A6E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9" name="Rectangle 28">
            <a:extLst>
              <a:ext uri="{FF2B5EF4-FFF2-40B4-BE49-F238E27FC236}">
                <a16:creationId xmlns:a16="http://schemas.microsoft.com/office/drawing/2014/main" id="{E02239D2-A05D-4A1C-9F06-FBA7FC730E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2EBDAA85-B50E-E172-D9AD-D92AFCE3E6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194" y="538956"/>
            <a:ext cx="11561805" cy="1118394"/>
          </a:xfrm>
        </p:spPr>
        <p:txBody>
          <a:bodyPr>
            <a:normAutofit/>
          </a:bodyPr>
          <a:lstStyle/>
          <a:p>
            <a:r>
              <a:rPr lang="it-IT" sz="4000" dirty="0">
                <a:solidFill>
                  <a:srgbClr val="0070C0"/>
                </a:solidFill>
              </a:rPr>
              <a:t>Conclusioni &amp; Testing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8C9AB71F-D360-C2FD-F40E-10C1CEDBC5A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09650" y="1847849"/>
            <a:ext cx="9994900" cy="2724151"/>
          </a:xfrm>
        </p:spPr>
        <p:txBody>
          <a:bodyPr>
            <a:normAutofit/>
          </a:bodyPr>
          <a:lstStyle/>
          <a:p>
            <a:pPr lvl="0"/>
            <a:r>
              <a:rPr lang="it-IT" sz="2000" b="1" dirty="0">
                <a:solidFill>
                  <a:srgbClr val="0070C0"/>
                </a:solidFill>
              </a:rPr>
              <a:t>Risultati Raggiunti:</a:t>
            </a:r>
            <a:r>
              <a:rPr lang="it-IT" sz="2000" dirty="0">
                <a:solidFill>
                  <a:schemeClr val="bg2">
                    <a:lumMod val="25000"/>
                  </a:schemeClr>
                </a:solidFill>
              </a:rPr>
              <a:t> Compilatore completo, modulare, capace di generare eseguibili nativi efficienti e robusto rispetto agli errori.</a:t>
            </a:r>
          </a:p>
          <a:p>
            <a:pPr lvl="0"/>
            <a:r>
              <a:rPr lang="it-IT" sz="2000" b="1" dirty="0">
                <a:solidFill>
                  <a:srgbClr val="0070C0"/>
                </a:solidFill>
              </a:rPr>
              <a:t>Suite di Test:</a:t>
            </a:r>
            <a:endParaRPr lang="it-IT" sz="2000" dirty="0">
              <a:solidFill>
                <a:srgbClr val="0070C0"/>
              </a:solidFill>
            </a:endParaRPr>
          </a:p>
          <a:p>
            <a:pPr lvl="1"/>
            <a:r>
              <a:rPr lang="it-IT" sz="2000" dirty="0">
                <a:solidFill>
                  <a:schemeClr val="bg2">
                    <a:lumMod val="25000"/>
                  </a:schemeClr>
                </a:solidFill>
              </a:rPr>
              <a:t>Test sintattici e semantici su casi limite (</a:t>
            </a:r>
            <a:r>
              <a:rPr lang="it-IT" sz="2000" dirty="0" err="1">
                <a:solidFill>
                  <a:schemeClr val="bg2">
                    <a:lumMod val="25000"/>
                  </a:schemeClr>
                </a:solidFill>
              </a:rPr>
              <a:t>shadowing</a:t>
            </a:r>
            <a:r>
              <a:rPr lang="it-IT" sz="2000" dirty="0">
                <a:solidFill>
                  <a:schemeClr val="bg2">
                    <a:lumMod val="25000"/>
                  </a:schemeClr>
                </a:solidFill>
              </a:rPr>
              <a:t> profondo, cicli annidati, </a:t>
            </a:r>
            <a:r>
              <a:rPr lang="it-IT" sz="2000" dirty="0" err="1">
                <a:solidFill>
                  <a:schemeClr val="bg2">
                    <a:lumMod val="25000"/>
                  </a:schemeClr>
                </a:solidFill>
              </a:rPr>
              <a:t>widening</a:t>
            </a:r>
            <a:r>
              <a:rPr lang="it-IT" sz="2000" dirty="0">
                <a:solidFill>
                  <a:schemeClr val="bg2">
                    <a:lumMod val="25000"/>
                  </a:schemeClr>
                </a:solidFill>
              </a:rPr>
              <a:t> implicito).</a:t>
            </a:r>
          </a:p>
          <a:p>
            <a:pPr lvl="1"/>
            <a:r>
              <a:rPr lang="it-IT" sz="2000" dirty="0">
                <a:solidFill>
                  <a:schemeClr val="bg2">
                    <a:lumMod val="25000"/>
                  </a:schemeClr>
                </a:solidFill>
              </a:rPr>
              <a:t>Test negativi con asserzione sui messaggi d'errore (intercettazione errori lessicali, semantici e percorsi senza ritorno).</a:t>
            </a:r>
          </a:p>
          <a:p>
            <a:pPr lvl="0"/>
            <a:r>
              <a:rPr lang="it-IT" sz="2000" b="1" dirty="0">
                <a:solidFill>
                  <a:srgbClr val="0070C0"/>
                </a:solidFill>
              </a:rPr>
              <a:t>Pipeline di Compilazione Eseguibile:</a:t>
            </a:r>
            <a:endParaRPr lang="it-IT" sz="2000" dirty="0">
              <a:solidFill>
                <a:srgbClr val="0070C0"/>
              </a:solidFill>
            </a:endParaRPr>
          </a:p>
          <a:p>
            <a:pPr marL="0" lvl="0" indent="0">
              <a:buNone/>
            </a:pPr>
            <a:endParaRPr lang="it-IT" sz="2000" i="1" dirty="0">
              <a:solidFill>
                <a:schemeClr val="bg2">
                  <a:lumMod val="25000"/>
                </a:schemeClr>
              </a:solidFill>
              <a:latin typeface="Cambria Math" panose="02040503050406030204" pitchFamily="18" charset="0"/>
            </a:endParaRPr>
          </a:p>
          <a:p>
            <a:pPr marL="0" lvl="0" indent="0">
              <a:buNone/>
            </a:pPr>
            <a:endParaRPr lang="it-IT" sz="2000" dirty="0">
              <a:solidFill>
                <a:schemeClr val="bg2">
                  <a:lumMod val="25000"/>
                </a:schemeClr>
              </a:solidFill>
            </a:endParaRPr>
          </a:p>
        </p:txBody>
      </p:sp>
      <p:sp>
        <p:nvSpPr>
          <p:cNvPr id="5" name="CasellaDiTesto 4">
            <a:extLst>
              <a:ext uri="{FF2B5EF4-FFF2-40B4-BE49-F238E27FC236}">
                <a16:creationId xmlns:a16="http://schemas.microsoft.com/office/drawing/2014/main" id="{BB11B14D-D0F6-F4D5-FBAD-217D280E5B38}"/>
              </a:ext>
            </a:extLst>
          </p:cNvPr>
          <p:cNvSpPr txBox="1"/>
          <p:nvPr/>
        </p:nvSpPr>
        <p:spPr>
          <a:xfrm>
            <a:off x="1321823" y="4748463"/>
            <a:ext cx="9378261" cy="880369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it-IT" dirty="0">
                <a:solidFill>
                  <a:schemeClr val="bg1"/>
                </a:solidFill>
                <a:latin typeface="+mj-lt"/>
              </a:rPr>
              <a:t>python3 </a:t>
            </a:r>
            <a:r>
              <a:rPr lang="it-IT" dirty="0" err="1">
                <a:solidFill>
                  <a:schemeClr val="bg1"/>
                </a:solidFill>
                <a:latin typeface="+mj-lt"/>
              </a:rPr>
              <a:t>main.py</a:t>
            </a:r>
            <a:r>
              <a:rPr lang="it-IT" dirty="0">
                <a:solidFill>
                  <a:schemeClr val="bg1"/>
                </a:solidFill>
                <a:latin typeface="+mj-lt"/>
              </a:rPr>
              <a:t> test/</a:t>
            </a:r>
            <a:r>
              <a:rPr lang="it-IT" dirty="0" err="1">
                <a:solidFill>
                  <a:schemeClr val="bg1"/>
                </a:solidFill>
                <a:latin typeface="+mj-lt"/>
              </a:rPr>
              <a:t>casi_validi</a:t>
            </a:r>
            <a:r>
              <a:rPr lang="it-IT" dirty="0">
                <a:solidFill>
                  <a:schemeClr val="bg1"/>
                </a:solidFill>
                <a:latin typeface="+mj-lt"/>
              </a:rPr>
              <a:t>/</a:t>
            </a:r>
            <a:r>
              <a:rPr lang="it-IT" dirty="0" err="1">
                <a:solidFill>
                  <a:schemeClr val="bg1"/>
                </a:solidFill>
                <a:latin typeface="+mj-lt"/>
              </a:rPr>
              <a:t>test_calcolatrice.tc</a:t>
            </a:r>
            <a:endParaRPr lang="it-IT" dirty="0">
              <a:solidFill>
                <a:schemeClr val="bg1"/>
              </a:solidFill>
              <a:latin typeface="+mj-lt"/>
            </a:endParaRPr>
          </a:p>
          <a:p>
            <a:pPr>
              <a:lnSpc>
                <a:spcPct val="150000"/>
              </a:lnSpc>
            </a:pPr>
            <a:r>
              <a:rPr lang="it-IT" dirty="0">
                <a:solidFill>
                  <a:schemeClr val="bg1"/>
                </a:solidFill>
                <a:latin typeface="+mj-lt"/>
              </a:rPr>
              <a:t>./test/</a:t>
            </a:r>
            <a:r>
              <a:rPr lang="it-IT" dirty="0" err="1">
                <a:solidFill>
                  <a:schemeClr val="bg1"/>
                </a:solidFill>
                <a:latin typeface="+mj-lt"/>
              </a:rPr>
              <a:t>casi_validi</a:t>
            </a:r>
            <a:r>
              <a:rPr lang="it-IT" dirty="0">
                <a:solidFill>
                  <a:schemeClr val="bg1"/>
                </a:solidFill>
                <a:latin typeface="+mj-lt"/>
              </a:rPr>
              <a:t>/</a:t>
            </a:r>
            <a:r>
              <a:rPr lang="it-IT" dirty="0" err="1">
                <a:solidFill>
                  <a:schemeClr val="bg1"/>
                </a:solidFill>
                <a:latin typeface="+mj-lt"/>
              </a:rPr>
              <a:t>test_calcolatrice</a:t>
            </a:r>
            <a:endParaRPr lang="it-IT" dirty="0">
              <a:solidFill>
                <a:schemeClr val="bg1"/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3050682479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124</TotalTime>
  <Words>639</Words>
  <Application>Microsoft Macintosh PowerPoint</Application>
  <PresentationFormat>Widescreen</PresentationFormat>
  <Paragraphs>58</Paragraphs>
  <Slides>7</Slides>
  <Notes>0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4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7</vt:i4>
      </vt:variant>
    </vt:vector>
  </HeadingPairs>
  <TitlesOfParts>
    <vt:vector size="12" baseType="lpstr">
      <vt:lpstr>Arial</vt:lpstr>
      <vt:lpstr>Calibri</vt:lpstr>
      <vt:lpstr>Calibri Light</vt:lpstr>
      <vt:lpstr>Cambria Math</vt:lpstr>
      <vt:lpstr>Tema di Office</vt:lpstr>
      <vt:lpstr>TriaC</vt:lpstr>
      <vt:lpstr>TriaC: Compilatore End-to-End da Sintassi Python-like a LLVM IR</vt:lpstr>
      <vt:lpstr>Front-End, Grammatica LALR(1) e Layout-Sensitivity</vt:lpstr>
      <vt:lpstr>AST &amp; Trasformazione</vt:lpstr>
      <vt:lpstr>Middle-End: Analisi Semantica e Scoping</vt:lpstr>
      <vt:lpstr>Back-End: Generazione Codice LLVM IR</vt:lpstr>
      <vt:lpstr>Conclusioni &amp; Testing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Andrea filipuzzi</dc:creator>
  <cp:lastModifiedBy>Andrea filipuzzi</cp:lastModifiedBy>
  <cp:revision>1</cp:revision>
  <dcterms:created xsi:type="dcterms:W3CDTF">2026-09-30T14:56:11Z</dcterms:created>
  <dcterms:modified xsi:type="dcterms:W3CDTF">2026-09-30T17:00:47Z</dcterms:modified>
</cp:coreProperties>
</file>